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Current</c:v>
                </c:pt>
                <c:pt idx="2">
                  <c:v>Target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Current</c:v>
                </c:pt>
                <c:pt idx="2">
                  <c:v>Target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</c:v>
                </c:pt>
                <c:pt idx="1">
                  <c:v>45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Sheet1!$A$2:$A$5</c:f>
              <c:strCache>
                <c:ptCount val="4"/>
                <c:pt idx="0">
                  <c:v>Climate</c:v>
                </c:pt>
                <c:pt idx="1">
                  <c:v>Safety</c:v>
                </c:pt>
                <c:pt idx="2">
                  <c:v>Water</c:v>
                </c:pt>
                <c:pt idx="3">
                  <c:v>Circularity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4.4</c:v>
                </c:pt>
                <c:pt idx="2">
                  <c:v>3.6</c:v>
                </c:pt>
                <c:pt idx="3">
                  <c:v>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Sheet1!$A$2:$A$5</c:f>
              <c:strCache>
                <c:ptCount val="4"/>
                <c:pt idx="0">
                  <c:v>Climate</c:v>
                </c:pt>
                <c:pt idx="1">
                  <c:v>Safety</c:v>
                </c:pt>
                <c:pt idx="2">
                  <c:v>Water</c:v>
                </c:pt>
                <c:pt idx="3">
                  <c:v>Circularity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Sheet1!$A$2:$A$4</c:f>
              <c:strCache>
                <c:ptCount val="3"/>
                <c:pt idx="0">
                  <c:v>Source ledger</c:v>
                </c:pt>
                <c:pt idx="1">
                  <c:v>Disclosure ledger</c:v>
                </c:pt>
                <c:pt idx="2">
                  <c:v>Tolerance limit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12420</c:v>
                </c:pt>
                <c:pt idx="1">
                  <c:v>12480</c:v>
                </c:pt>
                <c:pt idx="2">
                  <c:v>12451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Sheet1!$A$2:$A$4</c:f>
              <c:strCache>
                <c:ptCount val="3"/>
                <c:pt idx="0">
                  <c:v>Source ledger</c:v>
                </c:pt>
                <c:pt idx="1">
                  <c:v>Disclosure ledger</c:v>
                </c:pt>
                <c:pt idx="2">
                  <c:v>Tolerance limit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12420</c:v>
                </c:pt>
                <c:pt idx="1">
                  <c:v>12420</c:v>
                </c:pt>
                <c:pt idx="2">
                  <c:v>12420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145341"/>
            </a:solidFill>
          </c:spPr>
          <c:cat>
            <c:strRef>
              <c:f>Sheet1!$A$2:$A$5</c:f>
              <c:strCache>
                <c:ptCount val="4"/>
                <c:pt idx="0">
                  <c:v>Efficiency</c:v>
                </c:pt>
                <c:pt idx="1">
                  <c:v>Solar PPA</c:v>
                </c:pt>
                <c:pt idx="2">
                  <c:v>Materials</c:v>
                </c:pt>
                <c:pt idx="3">
                  <c:v>Take-back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-202</c:v>
                </c:pt>
                <c:pt idx="1">
                  <c:v>24</c:v>
                </c:pt>
                <c:pt idx="2">
                  <c:v>164</c:v>
                </c:pt>
                <c:pt idx="3">
                  <c:v>373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5ED39A"/>
            </a:solidFill>
          </c:spPr>
          <c:cat>
            <c:strRef>
              <c:f>Sheet1!$A$2:$A$5</c:f>
              <c:strCache>
                <c:ptCount val="4"/>
                <c:pt idx="0">
                  <c:v>Efficiency</c:v>
                </c:pt>
                <c:pt idx="1">
                  <c:v>Solar PPA</c:v>
                </c:pt>
                <c:pt idx="2">
                  <c:v>Materials</c:v>
                </c:pt>
                <c:pt idx="3">
                  <c:v>Take-back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stainability-executive-hero-v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0584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Sustainability Reporting and Engineering Strategies for Senior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TGS-2025052343</a:t>
            </a:r>
            <a:br/>
            <a:r>
              <a:t>Version 5.0 • 01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© Tertiary Infotech Academy Pte Ltd. |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 • CHECK-IN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283464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9344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5688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8376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9344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5688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08376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9344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75688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8376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9344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5688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8376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9344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5688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08376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8288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5341"/>
                </a:solidFill>
                <a:latin typeface="Aptos"/>
              </a:defRPr>
            </a:pPr>
            <a:r>
              <a:t>✓  Successful 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7432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62C"/>
                </a:solidFill>
                <a:latin typeface="Aptos"/>
              </a:defRPr>
            </a:pPr>
            <a:r>
              <a:t>Verify learner name, course run and session. If the success state is absent, notify the trainer before proceeding.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Trainer profile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? avatar • verified qualifications • relevant experience • adult-education credentials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TRAINER EVIDENCE FIELDS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Dr Alfred 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Named trainer • profile details require verified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NAMED PROFILE 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A1 endorse • A3 benchmark • A2 comply • A4 propose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K/A OUTCOME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Two-day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Day 1: LU1–2 • Day 2: LU3–4 • WA + 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DELIVERY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WA-SAQ 60 min • Case Study 60 min • open book • individual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ASSESSMENT CONDITIONS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Assessment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Five WA questions K1–K5 • four CS tasks A1/A3/A2/A4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ASSESSMENT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Skills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Services • Sustainable Engineering • EGS-EPM-6065-1.1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TSC IDENTITY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Option appraisal • materiality • controls • decarbonisation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the displayed course, run and learner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Trainer / assessor / course administrator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approved attendance or assessment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FOUR-ACTIVITY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TRL–evidence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TRL–EVIDENCE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score = recency × relevance × reproducibility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6 current studies × 0.9 relevance × 0.8 reproducibility = 4.32 weighted evidence units; hold endorsement below 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EVIDENCE SCORE = RECENCY × RELEVANCE × REPRODUCIBILITY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research currency boundary; reporting period; Evidence score = recency × relevance × reproducibility;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Outdated pilot used as proof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RESEARCH REGISTER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Outdated pilot used as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OUTDATED PILOT USED AS PROOF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research currency: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Research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score = recency × relevance × reproducibility Worked basis: 6 current studies × 0.9 relevance × 0.8 reproducibility = 4.32 weighted evidence units; hold endorsement below 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only with verified operating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research currency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ONLY WITH VERIFIED OPERATING EVIDENCE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Input–process–output boundary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INPUT–PROCESS–OUTPUT BOUNDARY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Balance variance = inputs − outputs − stock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1,000 t input − 720 t product − 210 t recovered − 55 t waste = 15 t unexplained variance (1.5%);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BALANCE VARIANCE = INPUTS − OUTPUTS − STOCK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system boundary boundary; reporting period; Balance variance = inputs − outputs − stock change;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shifted to improve result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MASS-BALANCE WORKSHEET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shifted to improve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SCOPE SHIFTED TO IMPROVE RESULT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system boundary: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Balance variance = inputs − outputs − stock change Worked basis: 1,000 t input − 720 t product − 210 t recovered − 55 t waste = 15 t unexplained variance (1.5%);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Freeze boundary before option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system boundary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FREEZE BOUNDARY BEFORE OPTION COMPARISON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Policy-to-design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POLICY-TO-DESIGN TRACE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lead time = effective date − design freeze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Obligation starts 1 Jan 2028; design freeze 1 Jul 2026 → 18-month lead time; trigger specification update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COMPLIANCE LEAD TIME = EFFECTIVE DATE − DESIGN FREEZE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Public policy horizon boundary; reporting period; Compliance lead time = effective date − design freeze;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Consultation treated as law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OBLIGATIONS REGISTER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Consultation treated as law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CONSULTATION TREATED AS LAW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Public policy horizon: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obligations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lead time = effective date − design freeze Worked basis: Obligation starts 1 Jan 2028; design freeze 1 Jul 2026 → 18-month lead time; trigger specification update 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enacted, proposed and voluntary separately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Public policy horizon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LABEL ENACTED, PROPOSED AND VOLUNTARY SEPARATELY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Meter-to-KPI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Energy baseline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ENERGY BASELINE MODEL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Intensity = kWh ÷ production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120,000 kWh ÷ 10,000 units = 12.0 kWh/unit versus 13.5 baseline → 11.1% improvement.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Normalise before claiming improvement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INTENSITY = KWH ÷ PRODUCTION UNIT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Meter-to-KPI evidence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Energy management boundary; reporting period; Intensity = kWh ÷ production unit;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Weather/volume effect ignored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METER-TO-KPI EVIDENCE CHAIN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Energy management: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Weather/volume effect 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Normalise before claiming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WEATHER/VOLUME EFFECT IGNORED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LU1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7" name="Picture 6" descr="lu1-original-evidence-source-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22 from “WSQ - Master Trainer Slides - Sustainability Reporting and Engineering Strategies for Senior Leaders - v3.pptx”.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Inspect the depicted sustainability mechanism; name its system boundary, operating evidence and endorsement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Site water balance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SITE WATER BALANCE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Reuse rate = reused water ÷ total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48,000 m³ reused ÷ 120,000 m³ demand = 40% reuse; target 45% → 5 percentage-point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only after catchment context review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REUSE RATE = REUSED WATER ÷ TOTAL DEMAND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Water stewardship boundary; reporting period; Reuse rate = reused water ÷ total demand;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Withdrawal confused with consumption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WATER-FLOW DIAGRAM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Withdrawal confused with consumption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only after catchment context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WITHDRAWAL CONFUSED WITH CONSUMPTION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Water stewardship: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Water-flow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Reuse rate = reused water ÷ total demand Worked basis: 48,000 m³ reused ÷ 120,000 m³ demand = 40% reuse; target 45% → 5 percentage-point gap.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APPROVE ONLY AFTER CATCHMENT CONTEXT REVIEW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option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WEIGHTED OPTION MATRIX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Score = Σ rating × weight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(4×25%)+(5×25%)+(3×15%)+(4×20%)+(4×15%) = 4.10/5; approve above 3.5.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SCORE = Σ RATING × WEIGHT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option appraisal boundary; reporting period; Score = Σ rating × weight;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Weights chosen after seeing result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CAPEX/PAYBACK/IMPACT TABLE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Weights chosen after seeing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WEIGHTS CHOSEN AFTER SEEING RESULT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option appraisal: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CAPEX/payback/impact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Score = Σ rating × weight Worked basis: (4×25%)+(5×25%)+(3×15%)+(4×20%)+(4×15%) = 4.10/5; approve above 3.5.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Approve weights before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option appraisal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APPROVE WEIGHTS BEFORE SCORING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stage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LIFE-CYCLE STAGE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= Σ activity data ×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2,000 kg steel × 1.9 kgCO2e/kg = 3,800 kgCO2e; compare per identical functional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IMPACT = Σ ACTIVITY DATA × FACTOR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thinking boundary; reporting period; Impact = Σ activity data ×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Burden shifted to supplier stage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CRADLE-TO-GATE INVENTORY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Burden shifted to supplier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BURDEN SHIFTED TO SUPPLIER STAGE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Life-cycle thinking: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Cradle-to-gate inventory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= Σ activity data × factor Worked basis: 2,000 kg steel × 1.9 kgCO2e/kg = 3,800 kgCO2e; compare per identical functional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Compare identical functional units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Life-cycle thinking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COMPARE IDENTICAL FUNCTIONAL UNITS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Hazard–exposure–vulnerability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HAZARD–EXPOSURE–VULNERABILITY MODEL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= hazard × exposure × vulnerability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Hazard 5 × exposure 4 × vulnerability 3 = 60/125; escalate scores ≥50.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 = HAZARD × EXPOSURE × VULNERABILITY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physical risk boundary; reporting period; Risk = hazard × exposure × vulnerability;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Corporate average hides critical asset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ASSET RISK HEATMAP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Corporate average hides critical asset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CORPORATE AVERAGE HIDES CRITICAL ASSET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Climate physical risk: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Asset risk heatmap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= hazard × exposure × vulnerability Worked basis: Hazard 5 × exposure 4 × vulnerability 3 = 60/125; escalate scores ≥50.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Escalate high-consequence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physical risk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ESCALATE HIGH-CONSEQUENCE SITES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Stage-gate evidence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STAGE-GATE EVIDENCE MODEL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gap = required TRL − current TRL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Required TRL 8 − current TRL 6 = 2-stage gap; require pilot gate before endorsement.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READINESS GAP = REQUIRED TRL − CURRENT TRL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Technology readiness boundary; reporting period; Readiness gap = required TRL − current TRL;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Vendor claim replaces test evidence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PILOT ACCEPTANCE RECORD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Vendor claim replaces test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VENDOR CLAIM REPLACES TEST EVIDENCE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Technology readiness: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Pilot acceptance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gap = required TRL − current TRL Worked basis: Required TRL 8 − current TRL 6 = 2-stage gap; require pilot gate before endorsement.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conditionally with test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Technology readiness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CONDITIONALLY WITH TEST GATE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Decision-rights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DECISION-RIGHTS WORKFLOW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Confidence = verified fields ÷ required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 verified fields ÷ 6 required = 83%; hold below 100% when compliance evidence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CONFIDENCE = VERIFIED FIELDS ÷ REQUIRED FIELDS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endorsement boundary; reporting period; Confidence = verified fields ÷ required fields;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residual-risk owner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SIGNED ENGINEERING MEMO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residual-risk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NO RESIDUAL-RISK OWNER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LU1 • K1, K2, A1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Engineering endorsement: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Signed engineering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Confidence = verified fields ÷ required fields Worked basis: 5 verified fields ÷ 6 required = 83%; hold below 100% when compliance evidence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Endorse with conditions, owner and review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endorsement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ENDORSE WITH CONDITIONS, OWNER AND REVIEW DATE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Externality-to-cashflow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EXTERNALITY-TO-CASHFLOW MAP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NPV = Σ cash flow/(1+r)^t − investment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PV benefits S$620k − PV costs S$500k = NPV S$120k; test at 8% discount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NPV = Σ CASH FLOW/(1+R)^T − INVESTMENT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Environmental economics boundary; reporting period; NPV = Σ cash flow/(1+r)^t − investment;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price omitted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SCENARIO CASHFLOW TABLE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price omitted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CARBON PRICE OMITTED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Environmental economics: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cashflow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NPV = Σ cash flow/(1+r)^t − investment Worked basis: PV benefits S$620k − PV costs S$500k = NPV S$120k; test at 8% discount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base, upside and downside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Environmental economics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BASE, UPSIDE AND DOWNSIDE CASES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Power–interest–impact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POWER–INTEREST–IMPACT MATRIX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significance × influence × exposure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Significance 5 × influence 4 × exposure 3 = 60/125; priority threshold ≥48.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PRIORITY = SIGNIFICANCE × INFLUENCE × EXPOSURE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mapping boundary; reporting period; Priority = significance × influence × exposure;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Loudest voice treated as material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STAKEHOLDER EVIDENCE REGISTER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Loudest voice treated as material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LOUDEST VOICE TREATED AS MATERIAL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Stakeholder mapping: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significance × influence × exposure Worked basis: Significance 5 × influence 4 × exposure 3 = 60/125; priority threshold ≥48.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documented scoring anchors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Stakeholder mapping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USE DOCUMENTED SCORING ANCHORS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Impact/financial lens crosswalk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IMPACT/FINANCIAL LENS CROSSWALK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Priority = max(impact score, financial score)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Impact 4.6, financial 3.8 → priority=max(4.6,3.8)=4.6; include at threshold ≥4.0.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Report lens and threshold explicitly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PRIORITY = MAX(IMPACT SCORE, FINANCIAL SCORE)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Double materiality boundary; reporting period; Priority = max(impact score, financial score);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Two lenses merged without explanation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5×5 MATERIALITY MATRIX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Two lenses merged without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Report lens and threshold explicitly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TWO LENSES MERGED WITHOUT EXPLANATION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Double materiality: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5×5 materiality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Priority = max(impact score, financial score) Worked basis: Impact 4.6, financial 3.8 → priority=max(4.6,3.8)=4.6; include at threshold ≥4.0.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REPORT LENS AND THRESHOLD EXPLICITLY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Strategy-on-a-page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Issue-to-objective cascade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ISSUE-TO-OBJECTIVE CASCADE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Gap = target −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2030 target 50% − forecast 38% = 12 percentage-point gap requiring funded initiatives.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Fund only initiatives tied to KPI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GAP = TARGET − FORECAST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Strategy-on-a-page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strategy boundary; reporting period; Gap = target − forecast;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has no target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STRATEGY-ON-A-PAGE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strategy: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has no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Fund only initiatives tied to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 HAS NO TARGET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LU2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80</a:t>
            </a:r>
          </a:p>
        </p:txBody>
      </p:sp>
      <p:pic>
        <p:nvPicPr>
          <p:cNvPr id="7" name="Picture 6" descr="lu2-original-evidence-source-slide-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200 from “WSQ - Master Trainer Slides - Sustainability Reporting and Engineering Strategies for Senior Leaders - v3.pptx”.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Use the source visual to identify stakeholder/market evidence, then connect it to a measurable strategic KPI.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KPI definition sheet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KPI DEFINITION SHEET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actual −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Actual 64% − target 70% = −6 points; red when more than 5 points below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VARIANCE = ACTUAL − TARGET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scorecard boundary; reporting period; Variance = actual − target;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boundary changes mid-year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OWNER/CADENCE/TOLERANCE TABLE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boundary changes mid-year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METRIC BOUNDARY CHANGES MID-YEAR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scorecard: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Owner/cadence/tolerance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actual − target Worked basis: Actual 64% − target 70% = −6 points; red when more than 5 points below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Change control every definition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scorecard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CHANGE CONTROL EVERY DEFINITION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Like-for-like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LIKE-FOR-LIKE COMPARISON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Indexed performance = company ÷ peer median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Company 78 ÷ peer median 65 = 1.20 index; validate identical boundary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INDEXED PERFORMANCE = COMPANY ÷ PEER MEDIAN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 benchmarking boundary; reporting period; Indexed performance = company ÷ peer median;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Different boundary/period compared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PEER-NORMALISATION TABLE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Different boundary/period compared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DIFFERENT BOUNDARY/PERIOD COMPARED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Peer benchmarking: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Peer-normalisation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Indexed performance = company ÷ peer median Worked basis: Company 78 ÷ peer median 65 = 1.20 index; validate identical boundary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Reject non-comparable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Peer benchmarking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REJECT NON-COMPARABLE METRICS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Rating-methodology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RATING-METHODOLOGY TRACE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Sensitivity = score change per assumption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Assumption change +1 causes score +0.35; sensitivity 0.35 points per assumption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SENSITIVITY = SCORE CHANGE PER ASSUMPTION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ratings boundary; reporting period; Sensitivity = score change per assumption;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One rating treated as ground truth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RATINGS DIVERGENCE MATRIX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One rating treated as ground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ONE RATING TREATED AS GROUND TRUTH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ESG ratings: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Ratings divergence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Sensitivity = score change per assumption Worked basis: Assumption change +1 causes score +0.35; sensitivity 0.35 points per assumption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Use ratings as signals, not assurance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ESG ratings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USE RATINGS AS SIGNALS, NOT ASSURANCE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Bow-tie control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BOW-TIE CONTROL MODEL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Residual risk = inherent risk × (1 − control effectiveness)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Inherent risk 20 × (1 − 70% control effectiveness) = residual risk 6; accept threshold ≤8.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RESIDUAL RISK = INHERENT RISK × (1 − CONTROL EFFECTIVENESS)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treatment boundary; reporting period; Residual risk = inherent risk × (1 − control effectiveness);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exists only on paper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RISK/CONTROL REGISTER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exists only on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EXISTS ONLY ON PAPER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Risk treatment: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Risk/control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Residual risk = inherent risk × (1 − control effectiveness) Worked basis: Inherent risk 20 × (1 − 70% control effectiveness) = residual risk 6; accept threshold ≤8.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design and operating effectiveness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 treatment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DESIGN AND OPERATING EFFECTIVENESS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Claim–proof–audience 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CLAIM–PROOF–AUDIENCE CANVAS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Proof coverage = supported claims ÷ total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8 supported claims ÷ 10 total claims = 80% proof coverage; remove two unsupported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PROOF COVERAGE = SUPPORTED CLAIMS ÷ TOTAL CLAIMS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 positioning boundary; reporting period; Proof coverage = supported claims ÷ total claims;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Aspirational claim stated as achieved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CLAIMS EVIDENCE LIBRARY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Aspirational claim stated as 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ASPIRATIONAL CLAIM STATED AS ACHIEVED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Market positioning: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Claims evidence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Proof coverage = supported claims ÷ total claims Worked basis: 8 supported claims ÷ 10 total claims = 80% proof coverage; remove two unsupported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Legal and evidence gate before release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 positioning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LEGAL AND EVIDENCE GATE BEFORE RELEASE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 stage-gate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 STAGE-GATE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0.40×impact 4.5 + 0.35×value 4.0 + 0.25×feasibility 3.0 = 3.95/5.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SCORE = 40% IMPACT + 35% VALUE + 25% FEASIBILITY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governance boundary; reporting period; Portfolio score = 40% impact + 35% value + 25% feasibility;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Easy projects crowd out material risks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BUBBLE CHART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Easy projects crowd out material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EASY PROJECTS CROWD OUT MATERIAL RISKS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LU2 • K3, A3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Portfolio governance: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bubble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 Worked basis: 0.40×impact 4.5 + 0.35×value 4.0 + 0.25×feasibility 3.0 = 3.95/5.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scores ≥3.5/5, then test portfolio balance and dependencies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governance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PRIORITISE SCORES ≥3.5/5, THEN TEST PORTFOLIO BALANCE AND DEPENDENCIES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Governance–strategy–risk–metrics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GOVERNANCE–STRATEGY–RISK–METRICS MODEL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Coverage = disclosed requirements ÷ applicable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31 evidenced requirements ÷ 36 applicable = 86% coverage; close five gaps before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COVERAGE = DISCLOSED REQUIREMENTS ÷ APPLICABLE REQUIREMENTS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architecture boundary; reporting period; Coverage = disclosed requirements ÷ applicable requirements;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Boilerplate without entity facts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IFRS S1 CROSSWALK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Boilerplate without entity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BOILERPLATE WITHOUT ENTITY FACTS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S1 architecture: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crosswalk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Coverage = disclosed requirements ÷ applicable requirements Worked basis: 31 evidenced requirements ÷ 36 applicable = 86% coverage; close five gaps before issue.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every disclosure to evidence 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S1 architecture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TRACE EVERY DISCLOSURE TO EVIDENCE OWNER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disclosure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CLIMATE DISCLOSURE CHAIN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Financed/operational emissions = activity ×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1,250,000 kWh × 0.408 kgCO2e/kWh = 510 tCO2e; record factor source/year.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FINANCED/OPERATIONAL EMISSIONS = ACTIVITY × FACTOR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S2 climate boundary; reporting period; Financed/operational emissions = activity ×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result presented as forecast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CLIMATE METRICS REGISTER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Scenario result presented as forecast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SCENARIO RESULT PRESENTED AS FORECAST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IFRS S2 climate: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Climate metrics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Financed/operational emissions = activity × factor Worked basis: 1,250,000 kWh × 0.408 kgCO2e/kWh = 510 tCO2e; record factor source/year.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Label assumptions and uncertainty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IFRS S2 climate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LABEL ASSUMPTIONS AND UNCERTAINTY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Material-topic reporting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MATERIAL-TOPIC REPORTING FLOW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Management effectiveness = outcome ÷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Outcome 72% ÷ target 80% = 90% effectiveness; explain 8-point outcome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MANAGEMENT EFFECTIVENESS = OUTCOME ÷ TARGET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reporting boundary; reporting period; Management effectiveness = outcome ÷ target;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Topic omitted without rationale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GRI CONTENT INDEX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Topic omitted without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TOPIC OMITTED WITHOUT RATIONALE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GRI reporting: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content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Management effectiveness = outcome ÷ target Worked basis: Outcome 72% ÷ target 80% = 90% effectiveness; explain 8-point outcome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Document determination and omission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GRI reporting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DOCUMENT DETERMINATION AND OMISSION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compliance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Board-to-disclosure accountability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BOARD-TO-DISCLOSURE ACCOUNTABILITY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Readiness = completed controls ÷ required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18 completed controls ÷ 22 required = 81.8% readiness; four controls remain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live rulebook each delivery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READINESS = COMPLETED CONTROLS ÷ REQUIRED CONTROLS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compliance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SGX reporting boundary; reporting period; Readiness = completed controls ÷ required controls;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Old roadmap date reused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SGX COMPLIANCE CHECKLIST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SGX reporting: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Old roadmap date reused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live rulebook each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OLD ROADMAP DATE REUSED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LU3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130</a:t>
            </a:r>
          </a:p>
        </p:txBody>
      </p:sp>
      <p:pic>
        <p:nvPicPr>
          <p:cNvPr id="7" name="Picture 6" descr="lu3-original-evidence-source-slide-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337 from “WSQ - Master Trainer Slides - Sustainability Reporting and Engineering Strategies for Senior Leaders - v3.pptx”.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Trace the reporting artifact to requirement, metric owner, calculation and retained assurance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Entity/year applicability decision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ENTITY/YEAR APPLICABILITY DECISION TABLE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 fields: listing/entity category; FY; framework; assurance phase; source date;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Example decision table: STI constituent; FY2027; ISSB-aligned climate disclosure; assurance/phasing status checked against ACRA 25 Aug 2025 roadmap → applicability review required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DECISION FIELDS: LISTING/ENTITY CATEGORY; FY; FRAMEWORK; ASSURANCE PHASE; SOURCE DATE; OUTCOME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Singapore roadmap boundary; reporting period; Decision fields: listing/entity category; FY; framework; assurance phase; source date; outcome;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Draft SDS treated as enacted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APPLICABILITY DECISION LOG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Draft SDS treated as enacted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DRAFT SDS TREATED AS ENACTED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Singapore roadmap: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Applicability decision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 fields: listing/entity category; FY; framework; assurance phase; source date; outcome Worked basis: Example decision table: STI constituent; FY2027; ISSB-aligned climate disclosure; assurance/phasing status checked against ACRA 25 Aug 2025 roadmap → applicability review required before conclusion.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Separate law, rule and consultation; verify ACRA/SGX source and effective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Singapore roadmap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SEPARATE LAW, RULE AND CONSULTATION; VERIFY ACRA/SGX SOURCE AND EFFECTIVE DATE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Source-to-report lineage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SOURCE-TO-REPORT LINEAGE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Reconciliation variance = ledger − disclosure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ledger 12,480 t − source ledger 12,420 t = 60 t variance (0.48%); tolerance 0.25%.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immutable source and approvals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RECONCILIATION VARIANCE = LEDGER − DISCLOSURE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Data collection boundary; reporting period; Reconciliation variance = ledger − disclosure;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Spreadsheet overwrite breaks trace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DATA LINEAGE MAP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Spreadsheet overwrite breaks 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immutable source and approvals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SPREADSHEET OVERWRITE BREAKS TRACE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Data collection: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Data lineage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Reconciliation variance = ledger − disclosure Worked basis: Disclosure ledger 12,480 t − source ledger 12,420 t = 60 t variance (0.48%); tolerance 0.25%.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RETAIN IMMUTABLE SOURCE AND APPROVALS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Prevent–detect–correct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PREVENT–DETECT–CORRECT MODEL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risk = likelihood × disclosure 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Likelihood 4 × disclosure impact 5 = risk 20; mandatory escalation at ≥15.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RISK = LIKELIHOOD × DISCLOSURE IMPACT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controls boundary; reporting period; Control risk = likelihood × disclosure impact;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 and reviewer are same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CONTROL DESIGN SHEET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 and reviewer are same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OWNER AND REVIEWER ARE SAME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Metric controls: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design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Control risk = likelihood × disclosure impact Worked basis: Likelihood 4 × disclosure impact 5 = risk 20; mandatory escalation at ≥15.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Segregate preparation and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Metric controls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SEGREGATE PREPARATION AND APPROVAL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Evidence sufficiency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EVIDENCE SUFFICIENCY MATRIX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Exception rate = failed samples ÷ tested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 failed samples ÷ 40 tested = 7.5% exception rate; remediate above 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EXCEPTION RATE = FAILED SAMPLES ÷ TESTED SAMPLES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readiness boundary; reporting period; Exception rate = failed samples ÷ tested samples;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Narrative claim lacks retained record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ASSURANCE PBC LIST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Narrative claim lacks retained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NARRATIVE CLAIM LACKS RETAINED RECORD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Assurance readiness: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PBC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Exception rate = failed samples ÷ tested samples Worked basis: 3 failed samples ÷ 40 tested = 7.5% exception rate; remediate above 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Test high-risk assertions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Assurance readiness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TEST HIGH-RISK ASSERTIONS FIRST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Fact–judgement–estimate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FACT–JUDGEMENT–ESTIMATE LABELS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range = high − 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High estimate 1,200 − low 900 = 300 tCO2e range; disclose method and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ESTIMATE RANGE = HIGH − LOW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drafting boundary; reporting period; Estimate range = high − low;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presented as fact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DISCLOSURE ANNOTATION SHEET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presented as 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ESTIMATE PRESENTED AS FACT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Disclosure drafting: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annotation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Estimate range = high − low Worked basis: High estimate 1,200 − low 900 = 300 tCO2e range; disclose method and sensitivity.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State method, range and sensitivity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Disclosure drafting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STATE METHOD, RANGE AND SENSITIVITY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Obligation-to-control crosswalk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OBLIGATION-TO-CONTROL CROSSWALK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Closure rate = closed gaps ÷ total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17 closed gaps ÷ 20 total = 85% closure; three effective-date gaps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CLOSURE RATE = CLOSED GAPS ÷ TOTAL GAPS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governance boundary; reporting period; Closure rate = closed gaps ÷ total gaps;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effective-date monitoring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COMPLIANCE REMEDIATION LOG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No effective-date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NO EFFECTIVE-DATE MONITORING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LU3 • K4, A2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Compliance governance: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remediation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Closure rate = closed gaps ÷ total gaps Worked basis: 17 closed gaps ÷ 20 total = 85% closure; three effective-date gaps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Assign legal owner and trigger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Compliance governance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ASSIGN LEGAL OWNER AND TRIGGER REVIEW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ARCH + IMAGEGEN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Closed-loop manufacturing: physical evidence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161</a:t>
            </a:r>
          </a:p>
        </p:txBody>
      </p:sp>
      <p:pic>
        <p:nvPicPr>
          <p:cNvPr id="7" name="Picture 6" descr="closed-loop-circular-manufacturing-v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6720840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463040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627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1  RECOVER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659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Heat, water and material streams return to defined process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07792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0723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2 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4107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Meters and mass-balance records establish the baseline and avoided impact.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352544"/>
            <a:ext cx="3886200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5171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3  GOVERN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55464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B262C"/>
                </a:solidFill>
                <a:latin typeface="Aptos"/>
              </a:defRPr>
            </a:pPr>
            <a:r>
              <a:t>Approve only with boundary, owner, threshold and retained evidence.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input rate = circular input ÷ total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360 t circular input ÷ 1,200 t total input = 30%; target 40% → 120 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CIRCULAR INPUT RATE = CIRCULAR INPUT ÷ TOTAL INPUT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Material-flow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economy boundary; reporting period; Circular input rate = circular input ÷ total input;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Recycling used as only strategy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MATERIAL-FLOW LOOP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Recycling used as only 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RECYCLING USED AS ONLY STRATEGY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economy: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Material-flow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input rate = circular input ÷ total input Worked basis: 360 t circular input ÷ 1,200 t total input = 30%; target 40% → 120 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Prioritise refuse, reduce, reuse, repair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economy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PRIORITISE REFUSE, REDUCE, REUSE, REPAIR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Mass-balance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MASS-BALANCE MODEL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input − product − recovery − waste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1,000 − 620 − 280 − 80 = 20 t variance (2%);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VARIANCE = INPUT − PRODUCT − RECOVERY − WASTE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 flow boundary; reporting period; Variance = input − product − recovery − waste;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Unexplained losses ignored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SANKEY-STYLE BALANCE TABLE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169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Unexplained losses ignored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UNEXPLAINED LOSSES IGNORED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Material flow: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Sankey-style balance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Variance = input − product − recovery − waste Worked basis: 1,000 − 620 − 280 − 80 = 20 t variance (2%); investigate above 1%.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Investigate variance above tolerance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Material flow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INVESTIGATE VARIANCE ABOVE TOLERANCE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Design-for-disassembly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DESIGN-FOR-DISASSEMBLY MAP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Recovery yield = recovered mass ÷ returned mass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420 kg recovered ÷ 600 kg returned = 70% recovery yield; redesign target 85%.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RECOVERY YIELD = RECOVERED MASS ÷ RETURNED MASS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design boundary; reporting period; Recovery yield = recovered mass ÷ returned mass;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Recyclable but no collection route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BILL-OF-MATERIAL CIRCULARITY SHEET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Recyclable but no collection route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RECYCLABLE BUT NO COLLECTION ROUTE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Circular design: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Bill-of-material circularity 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Recovery yield = recovered mass ÷ returned mass Worked basis: 420 kg recovered ÷ 600 kg returned = 70% recovery yield; redesign target 85%.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Verify system, not material claim alone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Circular design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VERIFY SYSTEM, NOT MATERIAL CLAIM ALONE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Take-back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Reverse-logistics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REVERSE-LOGISTICS NETWORK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Return rate = returned units ÷ sold units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8,400 returned ÷ 60,000 sold = 14% return rate; target 20% → 3,600-unit gap.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Unique chain-of-custody record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RETURN RATE = RETURNED UNITS ÷ SOLD UNITS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Take-back funnel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Product take-back boundary; reporting period; Return rate = returned units ÷ sold units;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Collected mass double-counted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TAKE-BACK FUNNEL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Product take-back: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179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Collected mass double-counted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Unique chain-of-custody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COLLECTED MASS DOUBLE-COUNTED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SOURCE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LU4 retained source evidence: annotated decision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180</a:t>
            </a:r>
          </a:p>
        </p:txBody>
      </p:sp>
      <p:pic>
        <p:nvPicPr>
          <p:cNvPr id="7" name="Picture 6" descr="lu4-original-evidence-source-slide-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37960" cy="4389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444752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093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Original slide 401 from “WSQ - Master Trainer Slides - Sustainability Reporting and Engineering Strategies for Senior Leaders - v3.pptx”.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9504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5409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92424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Use the original carbon/circularity evidence to define baseline, unit, reduction lever and verification method.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34256"/>
            <a:ext cx="3977639" cy="11430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37176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B262C"/>
                </a:solidFill>
                <a:latin typeface="Aptos"/>
              </a:defRPr>
            </a:pPr>
            <a:r>
              <a:t>Record boundary, method, owner, threshold and source citation before using the evidence.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ISO 20400 control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ISO 20400 CONTROL CHAIN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coverage = assessed spend ÷ addressable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S$18m assessed spend ÷ S$24m addressable = 75% supplier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SUPPLIER COVERAGE = ASSESSED SPEND ÷ ADDRESSABLE SPEND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Sustainable procurement boundary; reporting period; Supplier coverage = assessed spend ÷ addressable spend;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without contract clause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WEIGHTED TENDER MATRIX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without contract clause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WITHOUT CONTRACT CLAUSE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Sustainable procurement: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Weighted tender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coverage = assessed spend ÷ addressable spend Worked basis: S$18m assessed spend ÷ S$24m addressable = 75% supplier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Embed criteria, evidence and remedy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Sustainable procurement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EMBED CRITERIA, EVIDENCE AND REMEDY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Tiered traceability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TIERED TRACEABILITY MAP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Traceability = verified tier spend ÷ total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S$9m verified tier spend ÷ S$15m total = 60% traceability; high-risk threshold 90%.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TRACEABILITY = VERIFIED TIER SPEND ÷ TOTAL SPEND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Supply-chain disclosure boundary; reporting period; Traceability = verified tier spend ÷ total spend;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Survey answer treated as verified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SUPPLIER EVIDENCE REGISTER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189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Survey answer treated as verified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SURVEY ANSWER TREATED AS VERIFIED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Supply-chain disclosure: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Supplier evidence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Traceability = verified tier spend ÷ total spend Worked basis: S$9m verified tier spend ÷ S$15m total = 60% traceability; high-risk threshold 90%.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Risk-tier and validate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Supply-chain disclosure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RISK-TIER AND VALIDATE SAMPLES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Scope 1–2–3 boundary 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SCOPE 1–2–3 BOUNDARY MAP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tCO2e = activity data × emission factor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500,000 L fuel × 2.68 kgCO2e/L = 1,340 tCO2e Scope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TCO2E = ACTIVITY DATA × EMISSION FACTOR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boundary; reporting period; tCO2e = activity data × emission factor;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Market/location method mixed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GHG INVENTORY WORKBOOK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Market/location method mixed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MARKET/LOCATION METHOD MIXED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GHG inventory: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workbook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tCO2e = activity data × emission factor Worked basis: 500,000 L fuel × 2.68 kgCO2e/L = 1,340 tCO2e Scope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Disclose method and factor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GHG inventory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DISCLOSE METHOD AND FACTOR SOURCE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MAC curve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MAC CURVE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MAC = net annual cost ÷ annual tCO2e avoided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−S$85,000 ÷ 420 tCO2e = −S$202/tCO2e; no-regret, then check dependency.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Sequence by MAC, dependency and risk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MAC = NET ANNUAL COST ÷ ANNUAL TCO2E AVOIDED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Marginal abatement cost boundary; reporting period; MAC = net annual cost ÷ annual tCO2e avoided;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Initiatives added despite dependency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ABATEMENT PORTFOLIO TABLE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199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Initiatives added despite dependency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Sequence by MAC, dependency and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INITIATIVES ADDED DESPITE DEPENDENCY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Marginal abatement cost: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417320"/>
          <a:ext cx="68122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09560" y="155448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556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Abatement portfolio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66160"/>
            <a:ext cx="3566160" cy="160020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37673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60520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B262C"/>
                </a:solidFill>
                <a:latin typeface="Aptos"/>
              </a:defRPr>
            </a:pPr>
            <a:r>
              <a:t>MAC = net annual cost ÷ annual tCO2e avoided Worked basis: −S$85,000 ÷ 420 tCO2e = −S$202/tCO2e; no-regret, then check dependency.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SEQUENCE BY MAC, DEPENDENCY AND RISK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Policy cost 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POLICY COST SCENARIO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exposure = taxable tCO2e × S$45 (2026–27)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12,000 taxable tCO2e × S$45 = S$540,000 exposure for 2026–27.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TAX EXPOSURE = TAXABLE TCO2E × S$45 (2026–27)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tax context boundary; reporting period; Tax exposure = taxable tCO2e × S$45 (2026–27);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alone used as business case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CARBON-COST SENSITIVITY TABLE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alone used as business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TAX ALONE USED AS BUSINESS CASE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Carbon tax context: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Carbon-cost sensitivity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Tax exposure = taxable tCO2e × S$45 (2026–27) Worked basis: 12,000 taxable tCO2e × S$45 = S$540,000 exposure for 2026–27.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Include energy, capex and transition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Carbon tax context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INCLUDE ENERGY, CAPEX AND TRANSITION RISK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Value–impact–feasibility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Decision-ready result with stated boundary.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Owner, reviewer, cadence and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VALUE–IMPACT–FEASIBILITY MATRIX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worked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FORMULA / DECISION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SYNTHETIC TEACHING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0.40×impact 4.2 + 0.35×value 3.8 + 0.25×feasibility 3.6 = 3.91/5.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VALIDATION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Reconcile source totals, confirm unit and period, then vary the most uncertain input ±10% where numerical.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 Thresholds are course assumptions unless an official source is explicitly cited.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PORTFOLIO SCORE = 40% IMPACT + 35% VALUE + 25% FEASIBILITY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evidence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ACTUAL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portfolio boundary; reporting period; Portfolio score = 40% impact + 35% value + 25% feasibility; preparer; reviewer; source 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CONTROL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Select one reported value, reperform it from the retained source, and compare with the approved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ASSERTION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Community effect left qualitative The artifact supports only the stated boundary and period.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EXECUTIVE PORTFOLIO ROADMAP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failure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Community effect left qualitative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Mismatch in boundary, method, period or ownership.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the calculation and trace the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COMMUNITY EFFECT LEFT QUALITATIVE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LU4 • K5, A4 •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Sustainability portfolio: executive decision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REQUIRED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Executive portfolio roadmap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Portfolio score = 40% impact + 35% value + 25% feasibility Worked basis: 0.40×impact 4.2 + 0.35×value 3.8 + 0.25×feasibility 3.6 = 3.91/5.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TOPIC-SPECIFIC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Define owner, indicator and verification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RETAINED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Sustainability portfolio decision record: source, calculation, reviewer, conditions and next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DEFINE OWNER, INDICATOR AND VERIFICATION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1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Reperform payback and weighted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1 DEBRIEF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2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Defend the materiality threshold and KPI tolerance.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2 DEBRIEF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3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Trace data to disclosure and control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3 DEBRIEF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Activity 4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Explain MAC, dependencies and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ACTIVITY 4 DEBRIEF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Assessment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Answer every item and save before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ASSESSMENT REMINDER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 • SIX-NODE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331720"/>
            <a:ext cx="1554480" cy="1417320"/>
          </a:xfrm>
          <a:prstGeom prst="roundRect">
            <a:avLst/>
          </a:prstGeom>
          <a:solidFill>
            <a:srgbClr val="145341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0824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53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331720"/>
            <a:ext cx="1554480" cy="141732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5341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62C"/>
                </a:solidFill>
                <a:latin typeface="Aptos"/>
              </a:defRPr>
            </a:pPr>
            <a:r>
              <a:t>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53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331720"/>
            <a:ext cx="1554480" cy="141732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534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62C"/>
                </a:solidFill>
                <a:latin typeface="Aptos"/>
              </a:defRPr>
            </a:pPr>
            <a:r>
              <a:t>WA-SAQ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53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331720"/>
            <a:ext cx="1554480" cy="141732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5341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62C"/>
                </a:solidFill>
                <a:latin typeface="Aptos"/>
              </a:defRPr>
            </a:pPr>
            <a:r>
              <a:t>Case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53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2331720"/>
            <a:ext cx="1554480" cy="1417320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534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262C"/>
                </a:solidFill>
                <a:latin typeface="Aptos"/>
              </a:defRPr>
            </a:pPr>
            <a:r>
              <a:t>LMS 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4936" y="2697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534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31552" y="2331720"/>
            <a:ext cx="1554480" cy="1417320"/>
          </a:xfrm>
          <a:prstGeom prst="roundRect">
            <a:avLst/>
          </a:prstGeom>
          <a:solidFill>
            <a:srgbClr val="145341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61904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999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5341"/>
                </a:solidFill>
                <a:latin typeface="Aptos"/>
              </a:defRPr>
            </a:pPr>
            <a:r>
              <a:t>Sign-off record: grade • assessor • date • evidence location • appeal route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ADMIN • CHECK-IN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Assessment attendance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217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283464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9344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5688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08376" y="1737360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9344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75688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08376" y="2203704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09344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75688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08376" y="2670048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9344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5688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08376" y="3136391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9344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75688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08376" y="3602736"/>
            <a:ext cx="292608" cy="292608"/>
          </a:xfrm>
          <a:prstGeom prst="rect">
            <a:avLst/>
          </a:prstGeom>
          <a:solidFill>
            <a:srgbClr val="1B2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82880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45341"/>
                </a:solidFill>
                <a:latin typeface="Aptos"/>
              </a:defRPr>
            </a:pPr>
            <a:r>
              <a:t>✓  Successful check-in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7432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B262C"/>
                </a:solidFill>
                <a:latin typeface="Aptos"/>
              </a:defRPr>
            </a:pPr>
            <a:r>
              <a:t>Verify learner name, course run and session. If the success state is absent, notify the trainer before proceeding.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Submit TRAQOM and confirm receipt.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COURSE FEEDBACK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one owner, metric, threshold and next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ACTION PLAN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5341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B262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69"/>
                </a:solidFill>
                <a:latin typeface="Aptos"/>
              </a:defRPr>
            </a:pPr>
            <a:r>
              <a:t>Sustainability Reporting and Engineering Strategies for Senior Leaders | TGS-2025052343 | v5.0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55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F6969"/>
                </a:solidFill>
                <a:latin typeface="Aptos"/>
              </a:defRPr>
            </a:pPr>
            <a:r>
              <a:t>220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Engineering evidence → reporting confidence → strategic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184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Retain the relevant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5257800" cy="1664208"/>
          </a:xfrm>
          <a:prstGeom prst="roundRect">
            <a:avLst/>
          </a:prstGeom>
          <a:solidFill>
            <a:srgbClr val="E5F0E9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Name the accountable role.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474720"/>
            <a:ext cx="5257800" cy="1664208"/>
          </a:xfrm>
          <a:prstGeom prst="roundRect">
            <a:avLst/>
          </a:prstGeom>
          <a:solidFill>
            <a:srgbClr val="F0E6BE"/>
          </a:solidFill>
          <a:ln>
            <a:solidFill>
              <a:srgbClr val="145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675887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5341"/>
                </a:solidFill>
                <a:latin typeface="Aptos"/>
              </a:defRPr>
            </a:pPr>
            <a:r>
              <a:t>NEXT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4617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62C"/>
                </a:solidFill>
                <a:latin typeface="Aptos"/>
              </a:defRPr>
            </a:pPr>
            <a:r>
              <a:t>Confirm completion before course close.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5341"/>
                </a:solidFill>
                <a:latin typeface="Aptos"/>
              </a:defRPr>
            </a:pPr>
            <a:r>
              <a:t>ANCHOR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